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569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74E"/>
                </a:solidFill>
                <a:latin typeface="Calibri"/>
              </a:rPr>
              <a:t>Text Generation with 4-gram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6270"/>
                </a:solidFill>
                <a:latin typeface="Calibri"/>
              </a:rPr>
              <a:t>NLP Mini Project 1 | Khmer Wikipedia Corpus: Angkor Wat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569F"/>
                </a:solidFill>
                <a:latin typeface="Calibri"/>
              </a:rPr>
              <a:t>LM1 Backoff vs LM2 Interpolation + Add-k Smoothing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40480"/>
            <a:ext cx="5852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840480"/>
            <a:ext cx="73152" cy="100584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986784"/>
            <a:ext cx="553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20-minute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343400"/>
            <a:ext cx="5532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Data → Preprocessing → 4-gram models → Tuning → Perplexity → Generation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3716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9C6F"/>
                </a:solidFill>
                <a:latin typeface="Calibri"/>
              </a:rPr>
              <a:t>19,681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7556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tokens after Khmer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2316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7569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0720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related Wikipedia articles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29727"/>
                </a:solidFill>
                <a:latin typeface="Calibri"/>
              </a:rPr>
              <a:t>27.22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85876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LM1 test 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Presentation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270"/>
                </a:solidFill>
                <a:latin typeface="Calibri"/>
              </a:rPr>
              <a:t>Designed for a 20-minute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41732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2039111"/>
            <a:ext cx="19202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039111"/>
            <a:ext cx="19202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874519"/>
            <a:ext cx="141732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039111"/>
            <a:ext cx="19202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874519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LM1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039111"/>
            <a:ext cx="19202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874519"/>
            <a:ext cx="141732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LM2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2039111"/>
            <a:ext cx="19202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874519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2039111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370332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1912" y="386791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Vocab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3867912"/>
            <a:ext cx="283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03320"/>
            <a:ext cx="1508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86791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3867912"/>
            <a:ext cx="283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370332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9512" y="386791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867912"/>
            <a:ext cx="283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3703320"/>
            <a:ext cx="1508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8312" y="386791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867912"/>
            <a:ext cx="2834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70332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86791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00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4274E"/>
                </a:solidFill>
                <a:latin typeface="Calibri"/>
              </a:defRPr>
            </a:pPr>
            <a:r>
              <a:t>Suggested timing: 1-2 minutes per main concept</a:t>
            </a:r>
          </a:p>
          <a:p>
            <a:pPr>
              <a:spcAft>
                <a:spcPts val="800"/>
              </a:spcAft>
              <a:defRPr sz="1600">
                <a:solidFill>
                  <a:srgbClr val="14274E"/>
                </a:solidFill>
                <a:latin typeface="Calibri"/>
              </a:defRPr>
            </a:pPr>
            <a:r>
              <a:t>Spend more time on model differences and result interpretation</a:t>
            </a:r>
          </a:p>
          <a:p>
            <a:pPr>
              <a:spcAft>
                <a:spcPts val="800"/>
              </a:spcAft>
              <a:defRPr sz="1600">
                <a:solidFill>
                  <a:srgbClr val="14274E"/>
                </a:solidFill>
                <a:latin typeface="Calibri"/>
              </a:defRPr>
            </a:pPr>
            <a:r>
              <a:t>Use the demo near the end to make Part II concrete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Project Requirement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86868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5 Khmer Wikipedia articles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417320"/>
            <a:ext cx="73152" cy="86868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7" y="1563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920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70% training, 10% validation, 20%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73152" cy="86868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06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Tokenize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63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khmernltk.word_tokenize + split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60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560320"/>
            <a:ext cx="73152" cy="86868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2706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Vocabulary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063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Cap = 500, remaining tokens → &lt;UNK&gt;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73152" cy="86868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849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206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LM1 Backoff, LM2 Interpolation + add-k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703320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703320"/>
            <a:ext cx="73152" cy="86868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7" y="3849624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4206240"/>
            <a:ext cx="4709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Test perplexity + generated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Corpus: Larger and Topic-Consistent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ប្រាសាទ អង្គរវត្ត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អង្គរធំ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ប្រាសាទបាយ័ន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ខេត្តសៀមរាប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ចក្រភពខ្មែរ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17320"/>
            <a:ext cx="6583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417320"/>
            <a:ext cx="73152" cy="132588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563624"/>
            <a:ext cx="6263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Why combine articles?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1920240"/>
            <a:ext cx="626364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One article was too small for a language model. Related articles increase n-gram evidence while keeping the generated text on the Angkor/Khmer history domain.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37560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7569F"/>
                </a:solidFill>
                <a:latin typeface="Calibri"/>
              </a:rPr>
              <a:t>96,199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2160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corpus characters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9C6F"/>
                </a:solidFill>
                <a:latin typeface="Calibri"/>
              </a:rPr>
              <a:t>19,681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2160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337560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29727"/>
                </a:solidFill>
                <a:latin typeface="Calibri"/>
              </a:rPr>
              <a:t>13,776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72160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training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Preprocessing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Scrape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719072"/>
            <a:ext cx="14630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554480"/>
            <a:ext cx="1508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1719072"/>
            <a:ext cx="14630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55448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935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1719072"/>
            <a:ext cx="14630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554480"/>
            <a:ext cx="1508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719072"/>
            <a:ext cx="14630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554480"/>
            <a:ext cx="150876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Limit vocab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719072"/>
            <a:ext cx="14630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554480"/>
            <a:ext cx="1508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1719072"/>
            <a:ext cx="1362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Train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83464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834640"/>
            <a:ext cx="73152" cy="114300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298094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Cleaning choices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37560"/>
            <a:ext cx="48006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Removed English-only lines, article markers, scripts/references, and separated Khmer sentence punctuation.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3464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73152" cy="114300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98094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Khmer tokenization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337560"/>
            <a:ext cx="48006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Used khmernltk.word_tokenize because Khmer word boundaries are not always separated by spaces.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572000"/>
            <a:ext cx="6126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4572000"/>
            <a:ext cx="73152" cy="868680"/>
          </a:xfrm>
          <a:prstGeom prst="rect">
            <a:avLst/>
          </a:prstGeom>
          <a:solidFill>
            <a:srgbClr val="F2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4718304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Assignment alignment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5074920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Vocabulary is limited and rare/out-of-vocabulary tokens become &lt;UNK&gt;.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What Does 4-gram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569F"/>
                </a:solidFill>
                <a:latin typeface="Calibri"/>
              </a:rPr>
              <a:t>A 4-gram model predicts the next token using the previous 3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73152" cy="91440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78024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Example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34640"/>
            <a:ext cx="3886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ប្រាសាទ អង្គរវត្ត ជា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33172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331720"/>
            <a:ext cx="73152" cy="91440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2478024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Possible next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834640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ប្រាសាទ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319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74E"/>
                </a:solidFill>
                <a:latin typeface="Calibri"/>
              </a:defRPr>
            </a:pPr>
            <a:r>
              <a:t>The model learns from counted sequences in training data.</a:t>
            </a:r>
          </a:p>
          <a:p>
            <a:pPr>
              <a:spcAft>
                <a:spcPts val="800"/>
              </a:spcAft>
              <a:defRPr sz="1800">
                <a:solidFill>
                  <a:srgbClr val="14274E"/>
                </a:solidFill>
                <a:latin typeface="Calibri"/>
              </a:defRPr>
            </a:pPr>
            <a:r>
              <a:t>It does not understand meaning; it estimates probability from observed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LM1: Backoff 4-gram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00200" cy="73152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9339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Try 4-gram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0008" y="1993392"/>
            <a:ext cx="28346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99339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If unseen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993392"/>
            <a:ext cx="28346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1600200" cy="73152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99339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Try 3-gram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993392"/>
            <a:ext cx="28346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9339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Try 2-gram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1993392"/>
            <a:ext cx="28346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1600200" cy="73152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993392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Unigram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246120"/>
            <a:ext cx="73152" cy="123444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9242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Core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49040"/>
            <a:ext cx="489204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Use the longest available context. Back off only when the higher-order n-gram was not observed.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461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246120"/>
            <a:ext cx="73152" cy="123444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392424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Why it worked 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749040"/>
            <a:ext cx="489204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With this corpus, exact local patterns are useful, and backoff avoids zero probability by moving to shorter histories.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LM2: Interpolation + Add-k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7569F"/>
                </a:solidFill>
                <a:latin typeface="Calibri"/>
              </a:rPr>
              <a:t>P = λ1P(unigram) + λ2P(bigram) + λ3P(trigram) + λ4P(4-gram)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73152" cy="128016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78024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Best lambdas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34640"/>
            <a:ext cx="30632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(0.4, 0.3, 0.2, 0.1)
More weight on lower-order n-grams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331720"/>
            <a:ext cx="73152" cy="128016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478024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Best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834640"/>
            <a:ext cx="30632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0.001
Small smoothing for sparse n-grams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3172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331720"/>
            <a:ext cx="73152" cy="1280160"/>
          </a:xfrm>
          <a:prstGeom prst="rect">
            <a:avLst/>
          </a:prstGeom>
          <a:solidFill>
            <a:srgbClr val="F2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478024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34640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The validation set preferred stable lower-order probabilities because exact 4-grams are still sparse.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Dataset Split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09</a:t>
            </a:r>
          </a:p>
        </p:txBody>
      </p:sp>
      <p:pic>
        <p:nvPicPr>
          <p:cNvPr id="5" name="Picture 4" descr="human_datase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6492240" cy="37098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28800"/>
            <a:ext cx="73152" cy="210312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975104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2331720"/>
            <a:ext cx="306324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Training learns counts. Validation tunes λ and k. Testing gives final unbiased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Final Perplexity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human_model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5943600" cy="3396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9C6F"/>
                </a:solidFill>
                <a:latin typeface="Calibri"/>
              </a:rPr>
              <a:t>27.2196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LM1 Backoff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55448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04C56"/>
                </a:solidFill>
                <a:latin typeface="Calibri"/>
              </a:rPr>
              <a:t>45.7879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Calibri"/>
              </a:rPr>
              <a:t>LM2 Interpolation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63240"/>
            <a:ext cx="3931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063240"/>
            <a:ext cx="73152" cy="123444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3209544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Main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3566160"/>
            <a:ext cx="361188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Lower perplexity is better. LM1 performs better on this corpus, although LM2 is smoother in theory.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Vocabulary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human_vocab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38576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508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508760"/>
            <a:ext cx="73152" cy="96012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655064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Small vocab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2011680"/>
            <a:ext cx="3154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Lower perplexity, but many &lt;UNK&gt;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4320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743200"/>
            <a:ext cx="73152" cy="960120"/>
          </a:xfrm>
          <a:prstGeom prst="rect">
            <a:avLst/>
          </a:prstGeom>
          <a:solidFill>
            <a:srgbClr val="F2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2889504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Large vocab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3246120"/>
            <a:ext cx="3154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More readable words, but sparse counts and higher perplexity.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977639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3977639"/>
            <a:ext cx="73152" cy="86868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4123943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Chosen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4480559"/>
            <a:ext cx="3154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Vocabulary size = 500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Text Generation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1945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73152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1874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1874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ប្រាសាទ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73152" cy="123444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69464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LM1 Backoff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498348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ប្រាសាទ នេះ កសាង នៅ ចុង សតវត្សរ៍ ទី ១២ និង ១៣។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2316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423160"/>
            <a:ext cx="73152" cy="1234440"/>
          </a:xfrm>
          <a:prstGeom prst="rect">
            <a:avLst/>
          </a:prstGeom>
          <a:solidFill>
            <a:srgbClr val="F2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569464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LM2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26080"/>
            <a:ext cx="498348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ប្រាសាទ នេះ បង្ហាញ ឲ្យដឹង ថា ត្រូវបាន ទៅជា &lt;UNK&gt;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4340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74E"/>
                </a:solidFill>
                <a:latin typeface="Calibri"/>
              </a:defRPr>
            </a:pPr>
            <a:r>
              <a:t>LM1 is cleaner for demo.</a:t>
            </a:r>
          </a:p>
          <a:p>
            <a:pPr>
              <a:spcAft>
                <a:spcPts val="800"/>
              </a:spcAft>
              <a:defRPr sz="1800">
                <a:solidFill>
                  <a:srgbClr val="14274E"/>
                </a:solidFill>
                <a:latin typeface="Calibri"/>
              </a:defRPr>
            </a:pPr>
            <a:r>
              <a:t>LM2 is valid but more mixed due to smoothing and interpolation.</a:t>
            </a:r>
          </a:p>
          <a:p>
            <a:pPr>
              <a:spcAft>
                <a:spcPts val="800"/>
              </a:spcAft>
              <a:defRPr sz="1800">
                <a:solidFill>
                  <a:srgbClr val="14274E"/>
                </a:solidFill>
                <a:latin typeface="Calibri"/>
              </a:defRPr>
            </a:pPr>
            <a:r>
              <a:t>Keep length around 20-30 tokens.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Live Demo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389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64592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63624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Recommended demo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20240"/>
            <a:ext cx="40690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Seed: ប្រាសាទ អង្គរវត្ត
Model: LM1 Backoff
Length: 20-25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1732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417320"/>
            <a:ext cx="73152" cy="164592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1563624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What to 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1920240"/>
            <a:ext cx="49834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Click Generate Text and explain that each new token is predicted from previous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794760"/>
            <a:ext cx="155448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5935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959352"/>
            <a:ext cx="3474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5808" y="379476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95935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959352"/>
            <a:ext cx="3474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3794760"/>
            <a:ext cx="155448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95935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Next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959352"/>
            <a:ext cx="3474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864" y="379476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395935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Update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959352"/>
            <a:ext cx="3474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569F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3794760"/>
            <a:ext cx="1554480" cy="685800"/>
          </a:xfrm>
          <a:prstGeom prst="roundRect">
            <a:avLst/>
          </a:prstGeom>
          <a:solidFill>
            <a:srgbClr val="E2F0FD"/>
          </a:solidFill>
          <a:ln>
            <a:solidFill>
              <a:srgbClr val="175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544" y="395935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4274E"/>
                </a:solidFill>
                <a:latin typeface="Calibri"/>
              </a:rPr>
              <a:t>Repeat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Why LM1 Beat LM2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3152" cy="1051560"/>
          </a:xfrm>
          <a:prstGeom prst="rect">
            <a:avLst/>
          </a:prstGeom>
          <a:solidFill>
            <a:srgbClr val="26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0934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Reason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48006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Backoff uses strong observed local patterns when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1051560"/>
          </a:xfrm>
          <a:prstGeom prst="rect">
            <a:avLst/>
          </a:prstGeom>
          <a:solidFill>
            <a:srgbClr val="F2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0934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Reason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8006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Interpolation spreads probability across multiple n-gram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26080"/>
            <a:ext cx="73152" cy="105156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7238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Reason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429000"/>
            <a:ext cx="48006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Even with larger corpus, exact 4-grams remain sparse after Khmer segmentation.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73152" cy="1051560"/>
          </a:xfrm>
          <a:prstGeom prst="rect">
            <a:avLst/>
          </a:prstGeom>
          <a:solidFill>
            <a:srgbClr val="D0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072384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Key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29000"/>
            <a:ext cx="48006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LM2 is not guaranteed to beat LM1. The best model depends on corpus, tokenization, vocabulary, and test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Generated text is not perfectly natural because n-gram models do not understand meaning.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Some &lt;UNK&gt; remains because vocabulary limiting is required.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Readable output and low perplexity are a trade-off.</a:t>
            </a:r>
          </a:p>
          <a:p>
            <a:pPr>
              <a:spcAft>
                <a:spcPts val="800"/>
              </a:spcAft>
              <a:defRPr sz="1900">
                <a:solidFill>
                  <a:srgbClr val="14274E"/>
                </a:solidFill>
                <a:latin typeface="Calibri"/>
              </a:defRPr>
            </a:pPr>
            <a:r>
              <a:t>Future work: larger corpus, better Khmer segmentation, or neural language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572000"/>
            <a:ext cx="8046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4572000"/>
            <a:ext cx="73152" cy="914400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4718304"/>
            <a:ext cx="7726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74E"/>
                </a:solidFill>
                <a:latin typeface="Calibri"/>
              </a:rPr>
              <a:t>How to defend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5074920"/>
            <a:ext cx="7726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5A6270"/>
                </a:solidFill>
                <a:latin typeface="Calibri"/>
              </a:rPr>
              <a:t>The assignment is about implementing and evaluating 4-gram language models, not building a perfect modern chatbot.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74E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280160" cy="54864"/>
          </a:xfrm>
          <a:prstGeom prst="rect">
            <a:avLst/>
          </a:prstGeom>
          <a:solidFill>
            <a:srgbClr val="175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270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9875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274E"/>
                </a:solidFill>
                <a:latin typeface="Calibri"/>
              </a:defRPr>
            </a:pPr>
            <a:r>
              <a:t>Built both required 4-gram models.</a:t>
            </a:r>
          </a:p>
          <a:p>
            <a:pPr>
              <a:spcAft>
                <a:spcPts val="800"/>
              </a:spcAft>
              <a:defRPr sz="2000">
                <a:solidFill>
                  <a:srgbClr val="14274E"/>
                </a:solidFill>
                <a:latin typeface="Calibri"/>
              </a:defRPr>
            </a:pPr>
            <a:r>
              <a:t>Used validation to tune λ and k.</a:t>
            </a:r>
          </a:p>
          <a:p>
            <a:pPr>
              <a:spcAft>
                <a:spcPts val="800"/>
              </a:spcAft>
              <a:defRPr sz="2000">
                <a:solidFill>
                  <a:srgbClr val="14274E"/>
                </a:solidFill>
                <a:latin typeface="Calibri"/>
              </a:defRPr>
            </a:pPr>
            <a:r>
              <a:t>Evaluated with perplexity on the test set.</a:t>
            </a:r>
          </a:p>
          <a:p>
            <a:pPr>
              <a:spcAft>
                <a:spcPts val="800"/>
              </a:spcAft>
              <a:defRPr sz="2000">
                <a:solidFill>
                  <a:srgbClr val="14274E"/>
                </a:solidFill>
                <a:latin typeface="Calibri"/>
              </a:defRPr>
            </a:pPr>
            <a:r>
              <a:t>LM1 Backoff performed best: 27.2196 test perplexity.</a:t>
            </a:r>
          </a:p>
          <a:p>
            <a:pPr>
              <a:spcAft>
                <a:spcPts val="800"/>
              </a:spcAft>
              <a:defRPr sz="2000">
                <a:solidFill>
                  <a:srgbClr val="14274E"/>
                </a:solidFill>
                <a:latin typeface="Calibri"/>
              </a:defRPr>
            </a:pPr>
            <a:r>
              <a:t>Created a working text generator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7569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