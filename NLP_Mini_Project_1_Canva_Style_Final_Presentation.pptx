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212080" cy="41148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000" b="1">
                <a:solidFill>
                  <a:srgbClr val="1960BE"/>
                </a:solidFill>
                <a:latin typeface="Calibri"/>
              </a:rPr>
              <a:t>NLP Mini Project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6492240" cy="6858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3400" b="1">
                <a:solidFill>
                  <a:srgbClr val="122749"/>
                </a:solidFill>
                <a:latin typeface="Calibri"/>
              </a:rPr>
              <a:t>Khmer 4-Gram Text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6309360" cy="5029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600" b="0">
                <a:solidFill>
                  <a:srgbClr val="5B6576"/>
                </a:solidFill>
                <a:latin typeface="Calibri"/>
              </a:rPr>
              <a:t>Backoff vs Interpolation Language Models using Angkor-related Khmer Wikipedia corpus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166110"/>
            <a:ext cx="3840480" cy="336042"/>
          </a:xfrm>
          <a:prstGeom prst="rect">
            <a:avLst/>
          </a:prstGeom>
          <a:solidFill>
            <a:srgbClr val="12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ntagon 8"/>
          <p:cNvSpPr/>
          <p:nvPr/>
        </p:nvSpPr>
        <p:spPr>
          <a:xfrm>
            <a:off x="7675473" y="1965960"/>
            <a:ext cx="480060" cy="1200150"/>
          </a:xfrm>
          <a:prstGeom prst="homePlate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entagon 9"/>
          <p:cNvSpPr/>
          <p:nvPr/>
        </p:nvSpPr>
        <p:spPr>
          <a:xfrm>
            <a:off x="8414766" y="1581912"/>
            <a:ext cx="480060" cy="1584198"/>
          </a:xfrm>
          <a:prstGeom prst="homePlate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entagon 10"/>
          <p:cNvSpPr/>
          <p:nvPr/>
        </p:nvSpPr>
        <p:spPr>
          <a:xfrm>
            <a:off x="9182862" y="1101852"/>
            <a:ext cx="480060" cy="2064258"/>
          </a:xfrm>
          <a:prstGeom prst="homePlate">
            <a:avLst/>
          </a:prstGeom>
          <a:solidFill>
            <a:srgbClr val="12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entagon 11"/>
          <p:cNvSpPr/>
          <p:nvPr/>
        </p:nvSpPr>
        <p:spPr>
          <a:xfrm>
            <a:off x="9950958" y="1581912"/>
            <a:ext cx="480060" cy="1584198"/>
          </a:xfrm>
          <a:prstGeom prst="homePlate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entagon 12"/>
          <p:cNvSpPr/>
          <p:nvPr/>
        </p:nvSpPr>
        <p:spPr>
          <a:xfrm>
            <a:off x="10690250" y="1965960"/>
            <a:ext cx="480060" cy="1200150"/>
          </a:xfrm>
          <a:prstGeom prst="homePlate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46670" y="2926080"/>
            <a:ext cx="336042" cy="268833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18754" y="2926080"/>
            <a:ext cx="336042" cy="268833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90838" y="2926080"/>
            <a:ext cx="336042" cy="268833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62920" y="2926080"/>
            <a:ext cx="336042" cy="268833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35006" y="2926080"/>
            <a:ext cx="336042" cy="268833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475488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919472"/>
            <a:ext cx="169164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1960BE"/>
                </a:solidFill>
                <a:latin typeface="Calibri"/>
              </a:rPr>
              <a:t>19,681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349240"/>
            <a:ext cx="174650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tokens after preprocessing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475488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4919472"/>
            <a:ext cx="169164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149B96"/>
                </a:solidFill>
                <a:latin typeface="Calibri"/>
              </a:rPr>
              <a:t>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5349240"/>
            <a:ext cx="174650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vocabulary cap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19472" y="4754880"/>
            <a:ext cx="1965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56632" y="4919472"/>
            <a:ext cx="169164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2B9E6C"/>
                </a:solidFill>
                <a:latin typeface="Calibri"/>
              </a:rPr>
              <a:t>27.22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349240"/>
            <a:ext cx="174650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best test perplexity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Presentation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A 20-minute walkthrough from data to model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1371600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210312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1. Corpus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2103120" cy="8046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Angkor Wat and related Khmer articles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2514600"/>
            <a:ext cx="365760" cy="0"/>
          </a:xfrm>
          <a:prstGeom prst="line">
            <a:avLst/>
          </a:prstGeom>
          <a:ln w="25400">
            <a:solidFill>
              <a:srgbClr val="19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8288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828800"/>
            <a:ext cx="73152" cy="137160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965960"/>
            <a:ext cx="210312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2. Preprocess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304288"/>
            <a:ext cx="2103120" cy="8046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Clean text and tokenize Khmer words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599" y="2514600"/>
            <a:ext cx="365761" cy="0"/>
          </a:xfrm>
          <a:prstGeom prst="line">
            <a:avLst/>
          </a:prstGeom>
          <a:ln w="25400">
            <a:solidFill>
              <a:srgbClr val="19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8288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828800"/>
            <a:ext cx="73152" cy="1371600"/>
          </a:xfrm>
          <a:prstGeom prst="rect">
            <a:avLst/>
          </a:prstGeom>
          <a:solidFill>
            <a:srgbClr val="EE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65960"/>
            <a:ext cx="210312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3.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04288"/>
            <a:ext cx="2103120" cy="8046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LM1 Backoff and LM2 Interpolation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32520" y="2514600"/>
            <a:ext cx="365759" cy="0"/>
          </a:xfrm>
          <a:prstGeom prst="line">
            <a:avLst/>
          </a:prstGeom>
          <a:ln w="25400">
            <a:solidFill>
              <a:srgbClr val="19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98279" y="18288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79" y="1828800"/>
            <a:ext cx="73152" cy="1371600"/>
          </a:xfrm>
          <a:prstGeom prst="rect">
            <a:avLst/>
          </a:prstGeom>
          <a:solidFill>
            <a:srgbClr val="2B9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1965960"/>
            <a:ext cx="210312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4.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59" y="2304288"/>
            <a:ext cx="2103120" cy="8046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Perplexity, vocabulary trade-off,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023360"/>
            <a:ext cx="9966960" cy="118872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The deck follows the assignment structure, then explains the experimental result.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Graphs and tables are placed near the section they support.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The final slides explain why LM1 performs better and what can be improved.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Assignment Requirement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How the notebook satisfies the NLP mini project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46304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 marL="63500" marR="63500" marT="38100" marB="38100">
                    <a:solidFill>
                      <a:srgbClr val="1960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Implementation in this project</a:t>
                      </a:r>
                    </a:p>
                  </a:txBody>
                  <a:tcPr marL="63500" marR="63500" marT="38100" marB="38100">
                    <a:solidFill>
                      <a:srgbClr val="1960B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Corpus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Five Khmer Wikipedia articles about Angkor and Khmer history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70% train, 10% validation, 20% test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Tokenization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khmernltk.word_tokenize with fallback option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Vocabulary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Top 500 words kept; rare words mapped to &lt;UNK&gt;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Models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LM1 Backoff 4-gram and LM2 Interpolation 4-gram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Perplexity on validation/test data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Generator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Interactive seed-based text generation demo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Corpus Source and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A focused historical corpus improves repeated phrase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5486400" cy="228600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Main topic: Angkor Wat and related Khmer historical/cultural articles.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Articles used: Angkor Wat, Angkor Thom, Bayon Temple, Siem Reap Province, Khmer Empire.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Raw fallback corpus size: about 96,199 characters.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The fallback corpus lets the notebook run even when scraping is unavailable.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006090"/>
            <a:ext cx="3474720" cy="304038"/>
          </a:xfrm>
          <a:prstGeom prst="rect">
            <a:avLst/>
          </a:prstGeom>
          <a:solidFill>
            <a:srgbClr val="12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entagon 9"/>
          <p:cNvSpPr/>
          <p:nvPr/>
        </p:nvSpPr>
        <p:spPr>
          <a:xfrm>
            <a:off x="7741309" y="1920240"/>
            <a:ext cx="434340" cy="1085850"/>
          </a:xfrm>
          <a:prstGeom prst="homePlate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entagon 10"/>
          <p:cNvSpPr/>
          <p:nvPr/>
        </p:nvSpPr>
        <p:spPr>
          <a:xfrm>
            <a:off x="8410193" y="1572768"/>
            <a:ext cx="434340" cy="1433322"/>
          </a:xfrm>
          <a:prstGeom prst="homePlate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entagon 11"/>
          <p:cNvSpPr/>
          <p:nvPr/>
        </p:nvSpPr>
        <p:spPr>
          <a:xfrm>
            <a:off x="9105137" y="1138428"/>
            <a:ext cx="434340" cy="1867662"/>
          </a:xfrm>
          <a:prstGeom prst="homePlate">
            <a:avLst/>
          </a:prstGeom>
          <a:solidFill>
            <a:srgbClr val="12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entagon 12"/>
          <p:cNvSpPr/>
          <p:nvPr/>
        </p:nvSpPr>
        <p:spPr>
          <a:xfrm>
            <a:off x="9800081" y="1572768"/>
            <a:ext cx="434340" cy="1433322"/>
          </a:xfrm>
          <a:prstGeom prst="homePlate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entagon 13"/>
          <p:cNvSpPr/>
          <p:nvPr/>
        </p:nvSpPr>
        <p:spPr>
          <a:xfrm>
            <a:off x="10468964" y="1920240"/>
            <a:ext cx="434340" cy="1085850"/>
          </a:xfrm>
          <a:prstGeom prst="homePlate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15249" y="2788920"/>
            <a:ext cx="304038" cy="243230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3325" y="2788920"/>
            <a:ext cx="304038" cy="243230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31401" y="2788920"/>
            <a:ext cx="304038" cy="243230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39476" y="2788920"/>
            <a:ext cx="304038" cy="243230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47553" y="2788920"/>
            <a:ext cx="304038" cy="243230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20840" y="4251960"/>
            <a:ext cx="4526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4251960"/>
            <a:ext cx="73152" cy="114300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4389120"/>
            <a:ext cx="420624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Why this corpus?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27448"/>
            <a:ext cx="4206240" cy="5760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The articles share words such as ប្រាសាទ, អង្គរ, ព្រះបាទ, ឆ្នាំ, and កម្ពុជា, giving the n-gram models stronger local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Turning raw article text into tokens for language modeling.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3152" cy="1234440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554479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Raw Article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04288"/>
            <a:ext cx="1554479" cy="66751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Wikipedia or fallback corpus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599" y="2441448"/>
            <a:ext cx="411481" cy="0"/>
          </a:xfrm>
          <a:prstGeom prst="line">
            <a:avLst/>
          </a:prstGeom>
          <a:ln w="25400">
            <a:solidFill>
              <a:srgbClr val="19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182880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1828800"/>
            <a:ext cx="73152" cy="123444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1965960"/>
            <a:ext cx="1554479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Clean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04288"/>
            <a:ext cx="1554479" cy="66751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Remove labels and English-only lines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00600" y="2441448"/>
            <a:ext cx="411480" cy="0"/>
          </a:xfrm>
          <a:prstGeom prst="line">
            <a:avLst/>
          </a:prstGeom>
          <a:ln w="25400">
            <a:solidFill>
              <a:srgbClr val="19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80" y="182880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1828800"/>
            <a:ext cx="73152" cy="1234440"/>
          </a:xfrm>
          <a:prstGeom prst="rect">
            <a:avLst/>
          </a:prstGeom>
          <a:solidFill>
            <a:srgbClr val="2B9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965960"/>
            <a:ext cx="1554479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Tokenize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304288"/>
            <a:ext cx="1554479" cy="66751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Khmer word segmentation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86600" y="2441448"/>
            <a:ext cx="411480" cy="0"/>
          </a:xfrm>
          <a:prstGeom prst="line">
            <a:avLst/>
          </a:prstGeom>
          <a:ln w="25400">
            <a:solidFill>
              <a:srgbClr val="19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98080" y="182880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0" y="1828800"/>
            <a:ext cx="73152" cy="1234440"/>
          </a:xfrm>
          <a:prstGeom prst="rect">
            <a:avLst/>
          </a:prstGeom>
          <a:solidFill>
            <a:srgbClr val="EE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1965960"/>
            <a:ext cx="1554479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Vocabulary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304288"/>
            <a:ext cx="1554479" cy="66751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Keep top 500 tokens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72600" y="2441448"/>
            <a:ext cx="411480" cy="0"/>
          </a:xfrm>
          <a:prstGeom prst="line">
            <a:avLst/>
          </a:prstGeom>
          <a:ln w="25400">
            <a:solidFill>
              <a:srgbClr val="196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84080" y="1828800"/>
            <a:ext cx="187451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1828800"/>
            <a:ext cx="73152" cy="1234440"/>
          </a:xfrm>
          <a:prstGeom prst="rect">
            <a:avLst/>
          </a:prstGeom>
          <a:solidFill>
            <a:srgbClr val="CB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1965960"/>
            <a:ext cx="1554479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Model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304288"/>
            <a:ext cx="1554479" cy="66751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Replace rare words with &lt;UNK&gt;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840480"/>
            <a:ext cx="4389120" cy="32004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800" b="1">
                <a:solidFill>
                  <a:srgbClr val="122749"/>
                </a:solidFill>
                <a:latin typeface="Calibri"/>
              </a:rPr>
              <a:t>Key preprocessing choices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343400"/>
            <a:ext cx="10424160" cy="114300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42A37"/>
                </a:solidFill>
                <a:latin typeface="Calibri"/>
              </a:defRPr>
            </a:pPr>
            <a:r>
              <a:t>Keep punctuation separation so sentence endings can be learned.</a:t>
            </a:r>
          </a:p>
          <a:p>
            <a:pPr>
              <a:spcAft>
                <a:spcPts val="700"/>
              </a:spcAft>
              <a:defRPr sz="1700">
                <a:solidFill>
                  <a:srgbClr val="242A37"/>
                </a:solidFill>
                <a:latin typeface="Calibri"/>
              </a:defRPr>
            </a:pPr>
            <a:r>
              <a:t>Do not remove stop words because language modeling needs grammar words.</a:t>
            </a:r>
          </a:p>
          <a:p>
            <a:pPr>
              <a:spcAft>
                <a:spcPts val="700"/>
              </a:spcAft>
              <a:defRPr sz="1700">
                <a:solidFill>
                  <a:srgbClr val="242A37"/>
                </a:solidFill>
                <a:latin typeface="Calibri"/>
              </a:defRPr>
            </a:pPr>
            <a:r>
              <a:t>Use Khmer segmentation to improve token quality compared with plain split.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Dataset Split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The 70/10/20 split follows the assignment requirement.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06</a:t>
            </a:r>
          </a:p>
        </p:txBody>
      </p:sp>
      <p:pic>
        <p:nvPicPr>
          <p:cNvPr id="8" name="Picture 7" descr="human_datase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577840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50876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73352"/>
            <a:ext cx="178308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1960BE"/>
                </a:solidFill>
                <a:latin typeface="Calibri"/>
              </a:rPr>
              <a:t>13,776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103120"/>
            <a:ext cx="183794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training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50876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673352"/>
            <a:ext cx="178308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EE8E2D"/>
                </a:solidFill>
                <a:latin typeface="Calibri"/>
              </a:rPr>
              <a:t>1,968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8008" y="2103120"/>
            <a:ext cx="183794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validation tokens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78892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53512"/>
            <a:ext cx="178308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2B9E6C"/>
                </a:solidFill>
                <a:latin typeface="Calibri"/>
              </a:rPr>
              <a:t>3,937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383280"/>
            <a:ext cx="183794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testing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788920"/>
            <a:ext cx="2057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953512"/>
            <a:ext cx="178308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149B96"/>
                </a:solidFill>
                <a:latin typeface="Calibri"/>
              </a:rPr>
              <a:t>19,681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3383280"/>
            <a:ext cx="183794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total tokens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251960"/>
            <a:ext cx="4434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4251960"/>
            <a:ext cx="73152" cy="1005840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4389120"/>
            <a:ext cx="411480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Why validation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727448"/>
            <a:ext cx="4114800" cy="43891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Validation data is used to choose LM2 lambda and k values before evaluating on the test 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Vocabulary and &lt;UNK&gt;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Vocabulary limitation is required by the assignment.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303520" cy="192024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Vocabulary cap: 500 most frequent tokens.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Words outside the vocabulary become &lt;UNK&gt;.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&lt;UNK&gt; means unknown token, not one exact recoverable word.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Validation &lt;UNK&gt;: 660 tokens; Test &lt;UNK&gt;: 1,433 tokens.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80" y="1417320"/>
          <a:ext cx="5074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2537460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Token Type</a:t>
                      </a:r>
                    </a:p>
                  </a:txBody>
                  <a:tcPr marL="63500" marR="63500" marT="38100" marB="38100">
                    <a:solidFill>
                      <a:srgbClr val="1960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Example / Meaning</a:t>
                      </a:r>
                    </a:p>
                  </a:txBody>
                  <a:tcPr marL="63500" marR="63500" marT="38100" marB="38100">
                    <a:solidFill>
                      <a:srgbClr val="1960B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Vocabulary word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ប្រាសាទ, អង្គរវត្ត, មាន, ក្នុង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Rare word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Low-frequency names, numbers, long terms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&lt;UNK&gt;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Shared placeholder for rare/out-of-vocabulary words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3232" y="3886200"/>
            <a:ext cx="411480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700" b="1">
                <a:solidFill>
                  <a:srgbClr val="122749"/>
                </a:solidFill>
                <a:latin typeface="Calibri"/>
              </a:rPr>
              <a:t>Generated 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434840"/>
            <a:ext cx="1417320" cy="438912"/>
          </a:xfrm>
          <a:prstGeom prst="roundRect">
            <a:avLst/>
          </a:prstGeom>
          <a:solidFill>
            <a:srgbClr val="DBECFF"/>
          </a:solidFill>
          <a:ln>
            <a:solidFill>
              <a:srgbClr val="19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44568"/>
            <a:ext cx="1325880" cy="20116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1">
                <a:solidFill>
                  <a:srgbClr val="122749"/>
                </a:solidFill>
                <a:latin typeface="Khmer OS Siemreap"/>
              </a:rPr>
              <a:t>ប្រាសាទ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4434840"/>
            <a:ext cx="1417320" cy="438912"/>
          </a:xfrm>
          <a:prstGeom prst="roundRect">
            <a:avLst/>
          </a:prstGeom>
          <a:solidFill>
            <a:srgbClr val="DBECFF"/>
          </a:solidFill>
          <a:ln>
            <a:solidFill>
              <a:srgbClr val="19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4544568"/>
            <a:ext cx="1325880" cy="20116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1">
                <a:solidFill>
                  <a:srgbClr val="122749"/>
                </a:solidFill>
                <a:latin typeface="Khmer OS Siemreap"/>
              </a:rPr>
              <a:t>អង្គរវត្ត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4434840"/>
            <a:ext cx="1417320" cy="438912"/>
          </a:xfrm>
          <a:prstGeom prst="roundRect">
            <a:avLst/>
          </a:prstGeom>
          <a:solidFill>
            <a:srgbClr val="DBECFF"/>
          </a:solidFill>
          <a:ln>
            <a:solidFill>
              <a:srgbClr val="19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4544568"/>
            <a:ext cx="1325880" cy="20116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1">
                <a:solidFill>
                  <a:srgbClr val="122749"/>
                </a:solidFill>
                <a:latin typeface="Khmer OS Siemreap"/>
              </a:rPr>
              <a:t>ត្រូវបាន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434840"/>
            <a:ext cx="1417320" cy="438912"/>
          </a:xfrm>
          <a:prstGeom prst="roundRect">
            <a:avLst/>
          </a:prstGeom>
          <a:solidFill>
            <a:srgbClr val="FFE8EB"/>
          </a:solidFill>
          <a:ln>
            <a:solidFill>
              <a:srgbClr val="CB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4544568"/>
            <a:ext cx="1325880" cy="20116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1">
                <a:solidFill>
                  <a:srgbClr val="122749"/>
                </a:solidFill>
                <a:latin typeface="Khmer OS Siemreap"/>
              </a:rPr>
              <a:t>&lt;UNK&gt;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4434840"/>
            <a:ext cx="1417320" cy="438912"/>
          </a:xfrm>
          <a:prstGeom prst="roundRect">
            <a:avLst/>
          </a:prstGeom>
          <a:solidFill>
            <a:srgbClr val="DBECFF"/>
          </a:solidFill>
          <a:ln>
            <a:solidFill>
              <a:srgbClr val="19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4544568"/>
            <a:ext cx="1325880" cy="20116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1">
                <a:solidFill>
                  <a:srgbClr val="122749"/>
                </a:solidFill>
                <a:latin typeface="Khmer OS Siemreap"/>
              </a:rPr>
              <a:t>ក្នុង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4434840"/>
            <a:ext cx="1417320" cy="438912"/>
          </a:xfrm>
          <a:prstGeom prst="roundRect">
            <a:avLst/>
          </a:prstGeom>
          <a:solidFill>
            <a:srgbClr val="DBECFF"/>
          </a:solidFill>
          <a:ln>
            <a:solidFill>
              <a:srgbClr val="19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4544568"/>
            <a:ext cx="1325880" cy="20116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1">
                <a:solidFill>
                  <a:srgbClr val="122749"/>
                </a:solidFill>
                <a:latin typeface="Khmer OS Siemreap"/>
              </a:rPr>
              <a:t>ឆ្នាំ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4434840"/>
            <a:ext cx="1417320" cy="438912"/>
          </a:xfrm>
          <a:prstGeom prst="roundRect">
            <a:avLst/>
          </a:prstGeom>
          <a:solidFill>
            <a:srgbClr val="FFE8EB"/>
          </a:solidFill>
          <a:ln>
            <a:solidFill>
              <a:srgbClr val="CB4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4544568"/>
            <a:ext cx="1325880" cy="20116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1">
                <a:solidFill>
                  <a:srgbClr val="122749"/>
                </a:solidFill>
                <a:latin typeface="Khmer OS Siemreap"/>
              </a:rPr>
              <a:t>&lt;UNK&gt;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How 4-Gram Generation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Both models use previous words to predict the next token.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4754880" cy="29260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800" b="1">
                <a:solidFill>
                  <a:srgbClr val="122749"/>
                </a:solidFill>
                <a:latin typeface="Calibri"/>
              </a:rPr>
              <a:t>A 4-gram sequence has four tokens: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1417320" cy="438912"/>
          </a:xfrm>
          <a:prstGeom prst="roundRect">
            <a:avLst/>
          </a:prstGeom>
          <a:solidFill>
            <a:srgbClr val="DBECFF"/>
          </a:solidFill>
          <a:ln>
            <a:solidFill>
              <a:srgbClr val="19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1325880" cy="20116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1">
                <a:solidFill>
                  <a:srgbClr val="122749"/>
                </a:solidFill>
                <a:latin typeface="Khmer OS Siemreap"/>
              </a:rPr>
              <a:t>ប្រាសាទ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965960"/>
            <a:ext cx="1417320" cy="438912"/>
          </a:xfrm>
          <a:prstGeom prst="roundRect">
            <a:avLst/>
          </a:prstGeom>
          <a:solidFill>
            <a:srgbClr val="DBECFF"/>
          </a:solidFill>
          <a:ln>
            <a:solidFill>
              <a:srgbClr val="19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075688"/>
            <a:ext cx="1325880" cy="20116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1">
                <a:solidFill>
                  <a:srgbClr val="122749"/>
                </a:solidFill>
                <a:latin typeface="Khmer OS Siemreap"/>
              </a:rPr>
              <a:t>អង្គរវត្ត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965960"/>
            <a:ext cx="1417320" cy="438912"/>
          </a:xfrm>
          <a:prstGeom prst="roundRect">
            <a:avLst/>
          </a:prstGeom>
          <a:solidFill>
            <a:srgbClr val="DBECFF"/>
          </a:solidFill>
          <a:ln>
            <a:solidFill>
              <a:srgbClr val="196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075688"/>
            <a:ext cx="1325880" cy="20116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1">
                <a:solidFill>
                  <a:srgbClr val="122749"/>
                </a:solidFill>
                <a:latin typeface="Khmer OS Siemreap"/>
              </a:rPr>
              <a:t>មាន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965960"/>
            <a:ext cx="1417320" cy="438912"/>
          </a:xfrm>
          <a:prstGeom prst="roundRect">
            <a:avLst/>
          </a:prstGeom>
          <a:solidFill>
            <a:srgbClr val="E2F8EE"/>
          </a:solidFill>
          <a:ln>
            <a:solidFill>
              <a:srgbClr val="2B9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075688"/>
            <a:ext cx="1325880" cy="20116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1">
                <a:solidFill>
                  <a:srgbClr val="122749"/>
                </a:solidFill>
                <a:latin typeface="Khmer OS Siemreap"/>
              </a:rPr>
              <a:t>កម្ពស់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06040"/>
            <a:ext cx="4663440" cy="25603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0">
                <a:solidFill>
                  <a:srgbClr val="5B6576"/>
                </a:solidFill>
                <a:latin typeface="Calibri"/>
              </a:rPr>
              <a:t>previous 3 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606040"/>
            <a:ext cx="1828800" cy="25603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300" b="0">
                <a:solidFill>
                  <a:srgbClr val="2B9E6C"/>
                </a:solidFill>
                <a:latin typeface="Calibri"/>
              </a:rPr>
              <a:t>predicted next 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10424160" cy="123444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The seed provides the starting context.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The generator predicts one token, appends it, then repeats.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If the seed has fewer than three words, shorter contexts are used at the beginning.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LM1: Unsmoothed Backoff 4-Gram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Use the most specific context first, then back off if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73152" cy="914400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182880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4-gram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04288"/>
            <a:ext cx="18288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w1 w2 w3 -&gt; next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148840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148840"/>
            <a:ext cx="73152" cy="91440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286000"/>
            <a:ext cx="182880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3-gram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624328"/>
            <a:ext cx="18288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w2 w3 -&gt; 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468880"/>
            <a:ext cx="73152" cy="914400"/>
          </a:xfrm>
          <a:prstGeom prst="rect">
            <a:avLst/>
          </a:prstGeom>
          <a:solidFill>
            <a:srgbClr val="EE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182880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2-gram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44368"/>
            <a:ext cx="18288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w3 -&gt;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788920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2788920"/>
            <a:ext cx="73152" cy="914400"/>
          </a:xfrm>
          <a:prstGeom prst="rect">
            <a:avLst/>
          </a:prstGeom>
          <a:solidFill>
            <a:srgbClr val="2B9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926080"/>
            <a:ext cx="182880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1-gram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264408"/>
            <a:ext cx="18288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overall frequency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10515600" cy="114300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LM1 is strong when the corpus contains repeated phrases.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It performed best in this experiment with test perplexity 27.2196.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Lower perplexity means the model predicts the test text better.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LM2: Interpolation with Add-k Smoothing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Combine several probability levels instead of choosing only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6583680" cy="41148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400" b="1">
                <a:solidFill>
                  <a:srgbClr val="1960BE"/>
                </a:solidFill>
                <a:latin typeface="Calibri"/>
              </a:rPr>
              <a:t>P(next) = λ1·P1 + λ2·P2 + λ3·P3 + λ4·P4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2240280"/>
          <a:ext cx="106070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1206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marL="63500" marR="63500" marT="38100" marB="38100">
                    <a:solidFill>
                      <a:srgbClr val="1960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Selected value</a:t>
                      </a:r>
                    </a:p>
                  </a:txBody>
                  <a:tcPr marL="63500" marR="63500" marT="38100" marB="38100">
                    <a:solidFill>
                      <a:srgbClr val="1960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63500" marR="63500" marT="38100" marB="38100">
                    <a:solidFill>
                      <a:srgbClr val="1960B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lambdas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(0.4, 0.3, 0.2, 0.1)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40% unigram, 30% bigram, 20% trigram, 10% 4-gram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k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Small add-k smoothing value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Validation PP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47.4493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Best validation score found in grid search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Test PP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45.7879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Final performance on unseen test data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005840" y="5257800"/>
            <a:ext cx="9966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5257800"/>
            <a:ext cx="73152" cy="685800"/>
          </a:xfrm>
          <a:prstGeom prst="rect">
            <a:avLst/>
          </a:prstGeom>
          <a:solidFill>
            <a:srgbClr val="EE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394960"/>
            <a:ext cx="964692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733288"/>
            <a:ext cx="9646920" cy="1188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LM2 is theoretically robust, but in this corpus smoothing and sparsity made it less accurate than LM1.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Hyperparameter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LM2 parameters were selected using validation perplexity.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669280" cy="228600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Tested multiple lambda combinations for unigram, bigram, trigram, and 4-gram weights.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Tested k values: 0.001, 0.005, 0.01, 0.02, 0.05, 0.10.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Selected the setting with the lowest validation perplexity.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Best result: lambdas=(0.4, 0.3, 0.2, 0.1), k=0.001.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554480"/>
            <a:ext cx="3931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03720" y="1554480"/>
            <a:ext cx="73152" cy="960120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691640"/>
            <a:ext cx="361188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Why tune?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029968"/>
            <a:ext cx="3611880" cy="39319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Different corpora need different smoothing and probability weights.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834640"/>
            <a:ext cx="3931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2834640"/>
            <a:ext cx="73152" cy="9601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971800"/>
            <a:ext cx="361188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Selection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310128"/>
            <a:ext cx="3611880" cy="39319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Choose lowest validation perplexity before testing.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114800"/>
            <a:ext cx="3931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4114800"/>
            <a:ext cx="73152" cy="960120"/>
          </a:xfrm>
          <a:prstGeom prst="rect">
            <a:avLst/>
          </a:prstGeom>
          <a:solidFill>
            <a:srgbClr val="2B9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4251960"/>
            <a:ext cx="361188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Final LM2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590288"/>
            <a:ext cx="3611880" cy="39319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Validation PP: 47.4493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Main Result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The final comparison shows LM1 is the better model for this corpus.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45920"/>
          <a:ext cx="11201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marL="63500" marR="63500" marT="38100" marB="38100">
                    <a:solidFill>
                      <a:srgbClr val="1960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L="63500" marR="63500" marT="38100" marB="38100">
                    <a:solidFill>
                      <a:srgbClr val="1960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Best parameters</a:t>
                      </a:r>
                    </a:p>
                  </a:txBody>
                  <a:tcPr marL="63500" marR="63500" marT="38100" marB="38100">
                    <a:solidFill>
                      <a:srgbClr val="1960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Validation PP</a:t>
                      </a:r>
                    </a:p>
                  </a:txBody>
                  <a:tcPr marL="63500" marR="63500" marT="38100" marB="38100">
                    <a:solidFill>
                      <a:srgbClr val="1960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 PP</a:t>
                      </a:r>
                    </a:p>
                  </a:txBody>
                  <a:tcPr marL="63500" marR="63500" marT="38100" marB="38100">
                    <a:solidFill>
                      <a:srgbClr val="1960B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LM1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Unsmoothed backoff 4-gram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No lambda/k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27.2196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LM2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Interpolation + add-k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λ=(0.4,0.3,0.2,0.1), k=0.001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47.4493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42A37"/>
                          </a:solidFill>
                        </a:defRPr>
                      </a:pPr>
                      <a:r>
                        <a:t>45.7879</a:t>
                      </a:r>
                    </a:p>
                  </a:txBody>
                  <a:tcPr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3794760"/>
            <a:ext cx="2286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959352"/>
            <a:ext cx="201168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2B9E6C"/>
                </a:solidFill>
                <a:latin typeface="Calibri"/>
              </a:rPr>
              <a:t>27.2196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389120"/>
            <a:ext cx="206654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LM1 test perplexity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794760"/>
            <a:ext cx="2286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3959352"/>
            <a:ext cx="201168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EE8E2D"/>
                </a:solidFill>
                <a:latin typeface="Calibri"/>
              </a:rPr>
              <a:t>45.7879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4389120"/>
            <a:ext cx="206654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LM2 test perplexity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703320"/>
            <a:ext cx="4480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3703320"/>
            <a:ext cx="73152" cy="1234440"/>
          </a:xfrm>
          <a:prstGeom prst="rect">
            <a:avLst/>
          </a:prstGeom>
          <a:solidFill>
            <a:srgbClr val="2B9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840480"/>
            <a:ext cx="416052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Conclusion from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178808"/>
            <a:ext cx="4160520" cy="66751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Lower perplexity is better, so LM1 Backoff is selected as the stronger final model for this experiment.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Model Perplexity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Visual comparison of final test perplexity.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human_model_per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76072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1508760"/>
            <a:ext cx="4389120" cy="182880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LM1 has lower perplexity than LM2.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This means LM1 gives higher probability to the actual test sequence.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The result does not mean interpolation is bad; it means this corpus/setting favored backoff.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4023360"/>
            <a:ext cx="4297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03720" y="4023360"/>
            <a:ext cx="73152" cy="1051560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4160520"/>
            <a:ext cx="397764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Key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4498848"/>
            <a:ext cx="3977640" cy="48463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For the final notebook result, LM1 is easier to defend because it has the best test perplexity.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Vocabulary Size vs Perplexity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Readability and probability are in tension.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human_vocab_per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40080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69480" y="1417320"/>
            <a:ext cx="4297680" cy="246888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42A37"/>
                </a:solidFill>
                <a:latin typeface="Calibri"/>
              </a:defRPr>
            </a:pPr>
            <a:r>
              <a:t>Vocabulary sizes tested: 100, 200, 300, 500, 700, 1000.</a:t>
            </a:r>
          </a:p>
          <a:p>
            <a:pPr>
              <a:spcAft>
                <a:spcPts val="700"/>
              </a:spcAft>
              <a:defRPr sz="1700">
                <a:solidFill>
                  <a:srgbClr val="242A37"/>
                </a:solidFill>
                <a:latin typeface="Calibri"/>
              </a:defRPr>
            </a:pPr>
            <a:r>
              <a:t>Larger vocabulary reduces &lt;UNK&gt; but creates sparser n-gram counts.</a:t>
            </a:r>
          </a:p>
          <a:p>
            <a:pPr>
              <a:spcAft>
                <a:spcPts val="700"/>
              </a:spcAft>
              <a:defRPr sz="1700">
                <a:solidFill>
                  <a:srgbClr val="242A37"/>
                </a:solidFill>
                <a:latin typeface="Calibri"/>
              </a:defRPr>
            </a:pPr>
            <a:r>
              <a:t>In this experiment, perplexity increased when vocabulary became too large.</a:t>
            </a:r>
          </a:p>
          <a:p>
            <a:pPr>
              <a:spcAft>
                <a:spcPts val="700"/>
              </a:spcAft>
              <a:defRPr sz="1700">
                <a:solidFill>
                  <a:srgbClr val="242A37"/>
                </a:solidFill>
                <a:latin typeface="Calibri"/>
              </a:defRPr>
            </a:pPr>
            <a:r>
              <a:t>Vocabulary cap 500 was chosen as a practical balance.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Text Generation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The demo lets a user test the model with a seed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73152" cy="914400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75488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92808"/>
            <a:ext cx="475488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Example: ប្រាសាទ អង្គរវត្ត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6032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60320"/>
            <a:ext cx="73152" cy="91440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97480"/>
            <a:ext cx="475488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Model Selector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35808"/>
            <a:ext cx="475488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Choose LM1 Backoff or LM2 Interpolation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0332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03320"/>
            <a:ext cx="73152" cy="914400"/>
          </a:xfrm>
          <a:prstGeom prst="rect">
            <a:avLst/>
          </a:prstGeom>
          <a:solidFill>
            <a:srgbClr val="EE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840480"/>
            <a:ext cx="475488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Length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78808"/>
            <a:ext cx="475488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Controls how many tokens the model generates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41732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17320"/>
            <a:ext cx="73152" cy="1143000"/>
          </a:xfrm>
          <a:prstGeom prst="rect">
            <a:avLst/>
          </a:prstGeom>
          <a:solidFill>
            <a:srgbClr val="CB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443484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Raw 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92808"/>
            <a:ext cx="4434840" cy="5760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Shows the real output, including &lt;UNK&gt;.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88036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880360"/>
            <a:ext cx="73152" cy="1143000"/>
          </a:xfrm>
          <a:prstGeom prst="rect">
            <a:avLst/>
          </a:prstGeom>
          <a:solidFill>
            <a:srgbClr val="2B9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017520"/>
            <a:ext cx="443484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Clean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355848"/>
            <a:ext cx="4434840" cy="5760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Removes &lt;UNK&gt; only for easier reading.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09160"/>
            <a:ext cx="4846320" cy="54864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600" b="1">
                <a:solidFill>
                  <a:srgbClr val="122749"/>
                </a:solidFill>
                <a:latin typeface="Calibri"/>
              </a:rPr>
              <a:t>Important: clean text is for display only; evaluation uses the real processed tokens.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Interpreting &lt;UNK&gt; in Generated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The exact original word behind &lt;UNK&gt; cannot be recovered.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828800" cy="25603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600" b="1">
                <a:solidFill>
                  <a:srgbClr val="122749"/>
                </a:solidFill>
                <a:latin typeface="Calibri"/>
              </a:rPr>
              <a:t>Generated: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0515600" cy="38404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900" b="0">
                <a:solidFill>
                  <a:srgbClr val="242A37"/>
                </a:solidFill>
                <a:latin typeface="Khmer OS Siemreap"/>
              </a:rPr>
              <a:t>ប្រាសាទ អង្គរវត្ត ត្រូវបាន &lt;UNK&gt; ក្នុង ឆ្នាំ &lt;UNK&gt;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3657600" cy="25603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600" b="1">
                <a:solidFill>
                  <a:srgbClr val="122749"/>
                </a:solidFill>
                <a:latin typeface="Calibri"/>
              </a:rPr>
              <a:t>Possible original article phrase: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10515600" cy="384048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900" b="0">
                <a:solidFill>
                  <a:srgbClr val="242A37"/>
                </a:solidFill>
                <a:latin typeface="Khmer OS Siemreap"/>
              </a:rPr>
              <a:t>ប្រាសាទ អង្គរវត្ត ត្រូវបាន កសាងឡើង ក្នុង ឆ្នាំ ១១២២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10241280" cy="114300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The possible phrase is inferred from article context.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The model itself only predicted the &lt;UNK&gt; category.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This limitation is caused by replacing many rare words with one shared token.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Why LM1 Performed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The result is explainable from corpus size and sparsity.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73152" cy="1143000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278892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Repeated phrases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92808"/>
            <a:ext cx="2788920" cy="5760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Backoff benefits when the article repeats exact local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41732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417320"/>
            <a:ext cx="73152" cy="1143000"/>
          </a:xfrm>
          <a:prstGeom prst="rect">
            <a:avLst/>
          </a:prstGeom>
          <a:solidFill>
            <a:srgbClr val="EE8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554480"/>
            <a:ext cx="278892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Sparse 4-grams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892808"/>
            <a:ext cx="2788920" cy="5760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Khmer segmentation and rare words make many contexts infrequent.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73152" cy="1143000"/>
          </a:xfrm>
          <a:prstGeom prst="rect">
            <a:avLst/>
          </a:prstGeom>
          <a:solidFill>
            <a:srgbClr val="CB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54480"/>
            <a:ext cx="278892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Smoothing spread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892808"/>
            <a:ext cx="2788920" cy="5760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LM2 gives small probability to many tokens, which can increase perplexity.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57600"/>
            <a:ext cx="10149840" cy="132588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LM2 is not automatically better in every corpus.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Interpolation usually helps when lambda and smoothing match the data well.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For this project, the validation-tuned LM2 still had higher test perplexity than LM1.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Limitations and 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The project is complete, but the model has natural n-gram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577840" cy="292608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Generated Khmer text is sometimes not fully natural.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&lt;UNK&gt; tokens reduce readability.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Larger vocabulary reduces &lt;UNK&gt; but can worsen perplexity.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N-gram models do not understand semantic meaning.</a:t>
            </a:r>
          </a:p>
          <a:p>
            <a:pPr>
              <a:spcAft>
                <a:spcPts val="700"/>
              </a:spcAft>
              <a:defRPr sz="1800">
                <a:solidFill>
                  <a:srgbClr val="242A37"/>
                </a:solidFill>
                <a:latin typeface="Calibri"/>
              </a:defRPr>
            </a:pPr>
            <a:r>
              <a:t>Future improvements: larger corpus, stronger Khmer segmentation, better smoothing, and richer evaluation examples.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3863340"/>
            <a:ext cx="3291840" cy="288036"/>
          </a:xfrm>
          <a:prstGeom prst="rect">
            <a:avLst/>
          </a:prstGeom>
          <a:solidFill>
            <a:srgbClr val="12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entagon 9"/>
          <p:cNvSpPr/>
          <p:nvPr/>
        </p:nvSpPr>
        <p:spPr>
          <a:xfrm>
            <a:off x="7637068" y="2834640"/>
            <a:ext cx="411480" cy="1028700"/>
          </a:xfrm>
          <a:prstGeom prst="homePlate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entagon 10"/>
          <p:cNvSpPr/>
          <p:nvPr/>
        </p:nvSpPr>
        <p:spPr>
          <a:xfrm>
            <a:off x="8270748" y="2505456"/>
            <a:ext cx="411480" cy="1357884"/>
          </a:xfrm>
          <a:prstGeom prst="homePlate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entagon 11"/>
          <p:cNvSpPr/>
          <p:nvPr/>
        </p:nvSpPr>
        <p:spPr>
          <a:xfrm>
            <a:off x="8929116" y="2093976"/>
            <a:ext cx="411480" cy="1769364"/>
          </a:xfrm>
          <a:prstGeom prst="homePlate">
            <a:avLst/>
          </a:prstGeom>
          <a:solidFill>
            <a:srgbClr val="12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entagon 12"/>
          <p:cNvSpPr/>
          <p:nvPr/>
        </p:nvSpPr>
        <p:spPr>
          <a:xfrm>
            <a:off x="9587484" y="2505456"/>
            <a:ext cx="411480" cy="1357884"/>
          </a:xfrm>
          <a:prstGeom prst="homePlate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entagon 13"/>
          <p:cNvSpPr/>
          <p:nvPr/>
        </p:nvSpPr>
        <p:spPr>
          <a:xfrm>
            <a:off x="10221163" y="2834640"/>
            <a:ext cx="411480" cy="1028700"/>
          </a:xfrm>
          <a:prstGeom prst="homePlate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12380" y="3657600"/>
            <a:ext cx="288036" cy="230428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8452" y="3657600"/>
            <a:ext cx="288036" cy="230428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4524" y="3657600"/>
            <a:ext cx="288036" cy="230428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40595" y="3657600"/>
            <a:ext cx="288036" cy="230428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16668" y="3657600"/>
            <a:ext cx="288036" cy="230428"/>
          </a:xfrm>
          <a:prstGeom prst="rect">
            <a:avLst/>
          </a:prstGeom>
          <a:solidFill>
            <a:srgbClr val="DB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4983480"/>
            <a:ext cx="46634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4983480"/>
            <a:ext cx="73152" cy="731520"/>
          </a:xfrm>
          <a:prstGeom prst="rect">
            <a:avLst/>
          </a:prstGeom>
          <a:solidFill>
            <a:srgbClr val="2B9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5120640"/>
            <a:ext cx="4343400" cy="2743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500" b="1">
                <a:solidFill>
                  <a:srgbClr val="122749"/>
                </a:solidFill>
                <a:latin typeface="Calibri"/>
              </a:rPr>
              <a:t>Submission 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458968"/>
            <a:ext cx="4343400" cy="16459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The notebook stays strict to the assignment: 4-gram LM1, LM2, validation tuning, test perplexity, and generator.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2377440" cy="45720"/>
          </a:xfrm>
          <a:prstGeom prst="rect">
            <a:avLst/>
          </a:prstGeom>
          <a:solidFill>
            <a:srgbClr val="14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9966960" cy="45720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2600" b="1">
                <a:solidFill>
                  <a:srgbClr val="122749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0515600" cy="347472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r>
              <a:rPr sz="1250" b="0">
                <a:solidFill>
                  <a:srgbClr val="5B6576"/>
                </a:solidFill>
                <a:latin typeface="Calibri"/>
              </a:rPr>
              <a:t>The project successfully demonstrates classical Khmer n-gram language modeling.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55664"/>
            <a:ext cx="457200" cy="21945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r"/>
            <a:r>
              <a:rPr sz="1000" b="0">
                <a:solidFill>
                  <a:srgbClr val="5B6576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73352"/>
            <a:ext cx="187452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2B9E6C"/>
                </a:solidFill>
                <a:latin typeface="Calibri"/>
              </a:rPr>
              <a:t>LM1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192938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best final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50876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73352"/>
            <a:ext cx="187452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1960BE"/>
                </a:solidFill>
                <a:latin typeface="Calibri"/>
              </a:rPr>
              <a:t>27.22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103120"/>
            <a:ext cx="192938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lowest test perplexity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50876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673352"/>
            <a:ext cx="187452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149B96"/>
                </a:solidFill>
                <a:latin typeface="Calibri"/>
              </a:rPr>
              <a:t>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2103120"/>
            <a:ext cx="192938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vocabulary cap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508760"/>
            <a:ext cx="2148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73352"/>
            <a:ext cx="1874520" cy="36576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500" b="1">
                <a:solidFill>
                  <a:srgbClr val="EE8E2D"/>
                </a:solidFill>
                <a:latin typeface="Calibri"/>
              </a:rPr>
              <a:t>4-gram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103120"/>
            <a:ext cx="1929384" cy="310896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1050" b="0">
                <a:solidFill>
                  <a:srgbClr val="5B6576"/>
                </a:solidFill>
                <a:latin typeface="Calibri"/>
              </a:rPr>
              <a:t>previous 3 words -&gt;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337560"/>
            <a:ext cx="10058400" cy="1280160"/>
          </a:xfrm>
          <a:prstGeom prst="rect">
            <a:avLst/>
          </a:prstGeom>
          <a:noFill/>
        </p:spPr>
        <p:txBody>
          <a:bodyPr wrap="none" lIns="127000" rIns="76200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42A37"/>
                </a:solidFill>
                <a:latin typeface="Calibri"/>
              </a:defRPr>
            </a:pPr>
            <a:r>
              <a:t>Corpus quality, tokenization, vocabulary size, and smoothing strongly affect results.</a:t>
            </a:r>
          </a:p>
          <a:p>
            <a:pPr>
              <a:spcAft>
                <a:spcPts val="700"/>
              </a:spcAft>
              <a:defRPr sz="1900">
                <a:solidFill>
                  <a:srgbClr val="242A37"/>
                </a:solidFill>
                <a:latin typeface="Calibri"/>
              </a:defRPr>
            </a:pPr>
            <a:r>
              <a:t>Backoff performed better than interpolation on this specific corpus.</a:t>
            </a:r>
          </a:p>
          <a:p>
            <a:pPr>
              <a:spcAft>
                <a:spcPts val="700"/>
              </a:spcAft>
              <a:defRPr sz="1900">
                <a:solidFill>
                  <a:srgbClr val="242A37"/>
                </a:solidFill>
                <a:latin typeface="Calibri"/>
              </a:defRPr>
            </a:pPr>
            <a:r>
              <a:t>The interactive demo makes the model behavior clear through seed, length, raw text, and clean 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</p:spPr>
        <p:txBody>
          <a:bodyPr wrap="none" lIns="50800" rIns="50800" anchor="t">
            <a:spAutoFit/>
          </a:bodyPr>
          <a:lstStyle/>
          <a:p>
            <a:pPr algn="ctr"/>
            <a:r>
              <a:rPr sz="2800" b="1">
                <a:solidFill>
                  <a:srgbClr val="122749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